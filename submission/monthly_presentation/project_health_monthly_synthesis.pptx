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517b10604d4fbb" /><Relationship Type="http://schemas.openxmlformats.org/officeDocument/2006/relationships/extended-properties" Target="/docProps/app.xml" Id="R9649be20691948f8" /><Relationship Type="http://schemas.openxmlformats.org/officeDocument/2006/relationships/officeDocument" Target="/ppt/presentation.xml" Id="Rcf7abb2986cf48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490c1770004030"/>
  </p:sldMasterIdLst>
  <p:notesMasterIdLst>
    <p:notesMasterId xmlns:r="http://schemas.openxmlformats.org/officeDocument/2006/relationships" r:id="R9b0f34f3c0aa45ee"/>
  </p:notesMasterIdLst>
  <p:sldIdLst>
    <p:sldId xmlns:r="http://schemas.openxmlformats.org/officeDocument/2006/relationships" id="256" r:id="R455a81a6435c4ac5"/>
    <p:sldId xmlns:r="http://schemas.openxmlformats.org/officeDocument/2006/relationships" id="257" r:id="R81cb1c265fdb424c"/>
    <p:sldId xmlns:r="http://schemas.openxmlformats.org/officeDocument/2006/relationships" id="258" r:id="R3d72691c44c44142"/>
    <p:sldId xmlns:r="http://schemas.openxmlformats.org/officeDocument/2006/relationships" id="259" r:id="Rc93a6dcc25ee4916"/>
    <p:sldId xmlns:r="http://schemas.openxmlformats.org/officeDocument/2006/relationships" id="260" r:id="Rf1485a6da0b74942"/>
    <p:sldId xmlns:r="http://schemas.openxmlformats.org/officeDocument/2006/relationships" id="261" r:id="R7a14bcd07f6644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1ba3647a54b02" /><Relationship Type="http://schemas.openxmlformats.org/officeDocument/2006/relationships/slideMaster" Target="/ppt/slideMasters/slideMaster1.xml" Id="R35490c1770004030" /><Relationship Type="http://schemas.openxmlformats.org/officeDocument/2006/relationships/notesMaster" Target="/ppt/notesMasters/notesMaster1.xml" Id="R9b0f34f3c0aa45ee" /><Relationship Type="http://schemas.openxmlformats.org/officeDocument/2006/relationships/presProps" Target="/ppt/presProps.xml" Id="R53a8bbed45644572" /><Relationship Type="http://schemas.openxmlformats.org/officeDocument/2006/relationships/tableStyles" Target="/ppt/tableStyles.xml" Id="R8d592394d16b4e79" /><Relationship Type="http://schemas.openxmlformats.org/officeDocument/2006/relationships/slide" Target="/ppt/slides/slide1.xml" Id="R455a81a6435c4ac5" /><Relationship Type="http://schemas.openxmlformats.org/officeDocument/2006/relationships/slide" Target="/ppt/slides/slide2.xml" Id="R81cb1c265fdb424c" /><Relationship Type="http://schemas.openxmlformats.org/officeDocument/2006/relationships/slide" Target="/ppt/slides/slide3.xml" Id="R3d72691c44c44142" /><Relationship Type="http://schemas.openxmlformats.org/officeDocument/2006/relationships/slide" Target="/ppt/slides/slide4.xml" Id="Rc93a6dcc25ee4916" /><Relationship Type="http://schemas.openxmlformats.org/officeDocument/2006/relationships/slide" Target="/ppt/slides/slide5.xml" Id="Rf1485a6da0b74942" /><Relationship Type="http://schemas.openxmlformats.org/officeDocument/2006/relationships/slide" Target="/ppt/slides/slide6.xml" Id="R7a14bcd07f6644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3551f11806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1214b259c84201" /><Relationship Type="http://schemas.openxmlformats.org/officeDocument/2006/relationships/notesMaster" Target="/ppt/notesMasters/notesMaster1.xml" Id="Re90c654de5b345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a07a933d724a1b" /><Relationship Type="http://schemas.openxmlformats.org/officeDocument/2006/relationships/notesMaster" Target="/ppt/notesMasters/notesMaster1.xml" Id="R991a3678fec04f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5c22c3c36c447c" /><Relationship Type="http://schemas.openxmlformats.org/officeDocument/2006/relationships/notesMaster" Target="/ppt/notesMasters/notesMaster1.xml" Id="R165edd60e1db46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095123235044f3" /><Relationship Type="http://schemas.openxmlformats.org/officeDocument/2006/relationships/notesMaster" Target="/ppt/notesMasters/notesMaster1.xml" Id="Rf20418c9aca9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9941ca69ce45e8" /><Relationship Type="http://schemas.openxmlformats.org/officeDocument/2006/relationships/notesMaster" Target="/ppt/notesMasters/notesMaster1.xml" Id="Rd1dc0dc420bb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20bf68ba474879" /><Relationship Type="http://schemas.openxmlformats.org/officeDocument/2006/relationships/notesMaster" Target="/ppt/notesMasters/notesMaster1.xml" Id="R4ac5bf2e3fde45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49704612149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4a4c4833444231" /><Relationship Type="http://schemas.openxmlformats.org/officeDocument/2006/relationships/slideLayout" Target="/ppt/slideLayouts/slideLayout1.xml" Id="Rce67b65042ff4c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7b65042ff4c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0976023d548d0" /><Relationship Type="http://schemas.openxmlformats.org/officeDocument/2006/relationships/notesSlide" Target="/ppt/notesSlides/notesSlide1.xml" Id="R968f266a7e0147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7a610944d4eba" /><Relationship Type="http://schemas.openxmlformats.org/officeDocument/2006/relationships/notesSlide" Target="/ppt/notesSlides/notesSlide2.xml" Id="R795cf08f21bf42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caaee418f4d6f" /><Relationship Type="http://schemas.openxmlformats.org/officeDocument/2006/relationships/chart" Target="/ppt/slides/charts/chart1.xml" Id="R7ce91ea5d1a44f11" /><Relationship Type="http://schemas.openxmlformats.org/officeDocument/2006/relationships/notesSlide" Target="/ppt/notesSlides/notesSlide3.xml" Id="Rd4af3654062540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76027a31f4409" /><Relationship Type="http://schemas.openxmlformats.org/officeDocument/2006/relationships/notesSlide" Target="/ppt/notesSlides/notesSlide4.xml" Id="Rb63b5240373144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d0e9f59734965" /><Relationship Type="http://schemas.openxmlformats.org/officeDocument/2006/relationships/notesSlide" Target="/ppt/notesSlides/notesSlide5.xml" Id="R380da9e35a0e48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bd89b32f84c44" /><Relationship Type="http://schemas.openxmlformats.org/officeDocument/2006/relationships/notesSlide" Target="/ppt/notesSlides/notesSlide6.xml" Id="R398a3522114f4c5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Overdue open tasks</c:v>
          </c:tx>
          <c:spPr>
            <a:solidFill xmlns:a="http://schemas.openxmlformats.org/drawingml/2006/main">
              <a:srgbClr val="C62828"/>
            </a:solidFill>
          </c:spPr>
          <c:dLbls/>
          <c:cat>
            <c:strLit>
              <c:ptCount val="2"/>
              <c:pt idx="0">
                <c:v>Titan</c:v>
              </c:pt>
              <c:pt idx="1">
                <c:v>UniSan</c:v>
              </c:pt>
            </c:strLit>
          </c:cat>
          <c:val>
            <c:numLit>
              <c:formatCode>General</c:formatCode>
              <c:ptCount val="2"/>
              <c:pt idx="0">
                <c:v>19</c:v>
              </c:pt>
              <c:pt idx="1">
                <c:v>25</c:v>
              </c:pt>
            </c:numLit>
          </c:val>
        </c:ser>
        <c:ser>
          <c:idx val="1"/>
          <c:order val="1"/>
          <c:tx>
            <c:v>Near-term risky tasks</c:v>
          </c:tx>
          <c:spPr>
            <a:solidFill xmlns:a="http://schemas.openxmlformats.org/drawingml/2006/main">
              <a:srgbClr val="F59E0B"/>
            </a:solidFill>
          </c:spPr>
          <c:dLbls/>
          <c:cat>
            <c:strLit>
              <c:ptCount val="2"/>
              <c:pt idx="0">
                <c:v>Titan</c:v>
              </c:pt>
              <c:pt idx="1">
                <c:v>UniSan</c:v>
              </c:pt>
            </c:strLit>
          </c:cat>
          <c:val>
            <c:numLit>
              <c:formatCode>General</c:formatCode>
              <c:ptCount val="2"/>
              <c:pt idx="0">
                <c:v>34</c:v>
              </c:pt>
              <c:pt idx="1">
                <c:v>54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55FB8-B4EF-42AA-9246-CFABA9FC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Monthly Health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8B43C-1C04-40D7-A44F-0E4A991D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S2P implementation portfolio | July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D1464-87F4-4388-BF4E-85C1AA0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42950"/>
            <a:ext cx="3333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1A1E7-088B-41FF-88F3-CCC5E299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954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66435-C731-429C-8112-FCDD353B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projects analyzed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74FFD-164D-4A56-B453-C108B0E1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62828"/>
                </a:solidFill>
              </a:defRPr>
            </a:pPr>
            <a:r>
              <a:rPr sz="4050" b="1">
                <a:solidFill>
                  <a:srgbClr val="C62828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6A67C-FBAA-44F4-BFC9-9712881B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projects currently 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6E67A-3871-4E0F-875E-C37C2B54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87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E2F9B-D83E-440A-9A55-074AC434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48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average risk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E356A-ADD8-4D36-96AC-778DC9A9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The portfolio needs recovery governance now, not just routine status reporting.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CBEA0-4929-42E0-80C1-2381530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9C0BA-DC98-444C-8250-86F5587D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9078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96DDB-D309-405D-AE52-9FB97DDF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Both projects are Red, but for different reasons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62EB1-4A79-4A03-BC66-90E80E4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portfolio pattern is not one generic delay. UniSan has summary-level schedule distress; Titan has execution and dependency risk beneath a Green summary health flag.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673CD-789E-4101-BDBD-5968B703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69257-51B8-46C4-AB04-F771B4E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24722-A82B-4B46-B615-CDD4DF8D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B9D05-5E90-4A8D-AD17-4AD9A37E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5238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B41EF-2503-4B43-B09D-CAC5F049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Titan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36708-32C1-4BD3-84A9-FD8295B9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93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62828"/>
                </a:solidFill>
              </a:defRPr>
            </a:pPr>
            <a:r>
              <a:rPr sz="2250" b="1">
                <a:solidFill>
                  <a:srgbClr val="C62828"/>
                </a:solidFill>
              </a:rPr>
              <a:t>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09DC2-B5BB-4C57-976E-CF0FB0C2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85/100 risk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E8F83-3EF6-45D9-AABE-A0D4CCBB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1E0B6-272A-47D0-BE1C-6804388F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The project summary risk level is High.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4A6D5-076D-4018-AFD3-C1529CE1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F1AE3-6245-4D58-8581-BCA807F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19 open task(s) are past their planned end date.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89987-4374-4623-9A16-301692F4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E0E20-15C6-4474-89B3-2FC14141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3 comments contain blocker or dependency language.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6FA0B-EAA8-46CD-88F9-EF82D3B5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5238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A7125-EE8C-4F48-A518-770B7F1F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384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UniSan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425EB-3FB7-445A-806C-124F568D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193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62828"/>
                </a:solidFill>
              </a:defRPr>
            </a:pPr>
            <a:r>
              <a:rPr sz="2250" b="1">
                <a:solidFill>
                  <a:srgbClr val="C62828"/>
                </a:solidFill>
              </a:rPr>
              <a:t>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4ED3A-CFE7-460B-8265-2EED108E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88/100 risk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8140C-4B7E-47E3-AB35-AA0622F7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71A07-5B21-4BFA-9106-3ADB7CDE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The workbook summary marks overall schedule health as Red.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D8332-BE21-44F7-AC54-C273774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6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3FD0B-CBED-43AD-9F15-E11D86B5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The project summary risk level is High.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FF917-BAB2-45E7-BB85-3310624D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18452-3B92-4B2F-94B9-686FE7C0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482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1 critical or zero-float open task(s) are overdue.</a:t>
            </a:r>
          </a:p>
        </p:txBody>
      </p:sp>
    </p:spTree>
    <p:extLst>
      <p:ext uri="{BB962C8B-B14F-4D97-AF65-F5344CB8AC3E}">
        <p14:creationId xmlns:p14="http://schemas.microsoft.com/office/powerpoint/2010/main" val="510697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61FDF9-32F3-4B43-BD92-338EF262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common trend is near-term execution pressure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845A1-6994-4881-9E50-67855B63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Across both plans, the highest shared signal is not budget. It is schedule execution risk concentrated in near-term and overdue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E5D7A-9D19-4A0A-982C-01F1C3B7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469B1-23DA-4090-9D9F-C2573D95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312E7-BE99-4AA4-B2EC-2E03A0C3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03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14350" y="2333625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e91ea5d1a44f1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FF64B-E496-4556-9E99-9F454C3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2364B-88F9-4066-ACA6-97E5FF62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62828"/>
                </a:solidFill>
              </a:defRPr>
            </a:pPr>
            <a:r>
              <a:rPr sz="4050" b="1">
                <a:solidFill>
                  <a:srgbClr val="C62828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31576-4DA9-4926-B4C8-807E844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open tasks are already overdue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AF06A-364A-419F-A511-FD88FDA3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529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9E0B"/>
                </a:solidFill>
              </a:defRPr>
            </a:pPr>
            <a:r>
              <a:rPr sz="4050" b="1">
                <a:solidFill>
                  <a:srgbClr val="F59E0B"/>
                </a:solidFill>
              </a:rPr>
              <a:t>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3E536-5E97-4A39-88A2-306C2188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958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near-term tasks need attention</a:t>
            </a:r>
          </a:p>
        </p:txBody>
      </p:sp>
    </p:spTree>
    <p:extLst>
      <p:ext uri="{BB962C8B-B14F-4D97-AF65-F5344CB8AC3E}">
        <p14:creationId xmlns:p14="http://schemas.microsoft.com/office/powerpoint/2010/main" val="1807059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B22CE9-3B64-4563-AB86-3A0ED01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Emerging risks point to dependencies and data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80B78-C6DF-421E-9305-037DA23B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comments and evidence rows show external inputs, mappings, workshops, and configuration tasks as the leading sources of delivery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A614C-2A0B-4F7F-917F-8D5F0706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E97C7-D1AE-4915-A80E-7A6D5588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BE966-F56B-4956-B865-9A16297E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3ACE0-1CB7-42B4-B914-725622C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80DB7-42DA-47DC-B6F6-F623AFE0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Dependency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3EED1-131A-4746-A267-25229CF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Client or integration inputs are pending, including sample data, field mapping, and workflow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04134-88B3-46D8-8D19-F525F0E1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BDAF2-5821-4CEF-A9E9-A0FE1F15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Milestone compression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76FB6-95F0-47F0-95D7-1469138E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Many tasks due within the next reporting window are incomplete or already marked Red/Yellow.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E201E-5C44-437D-B30F-ECB82F2D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D2A0C-8283-4E73-877E-3C5B70F9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Plan quality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EDECE-EED9-491A-BE9F-610DB871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Budget burn and target dates are unavailable or unparseable, reducing executive confidence in commercial health.</a:t>
            </a:r>
          </a:p>
        </p:txBody>
      </p:sp>
    </p:spTree>
    <p:extLst>
      <p:ext uri="{BB962C8B-B14F-4D97-AF65-F5344CB8AC3E}">
        <p14:creationId xmlns:p14="http://schemas.microsoft.com/office/powerpoint/2010/main" val="1161499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285CD5-805F-4357-94B1-08EDDCC6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Project-level evidence supports executive escalation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C67BF-34F4-4E9C-B196-BABAB597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strongest risks are visible in the generated weekly reports, not inferred from a black-box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BFF11-9153-463C-84B9-2FBB5D95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FED38-17BC-4EB9-96EA-6F7E6EE3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F4E9C-5D64-4C2A-AF64-1D469F98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AAD5E-A675-41CB-995B-39A0EDE2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C57D4-7AE6-4A16-A2F2-A22CBA96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38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DFFAE-93F0-4F0C-A4F4-C5F138A0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Key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905A5-5736-43C6-83E8-D37B904C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8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Recommended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56EBE-41B2-4739-8E1A-A2507364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9D9A8-E1B2-41EC-9ABA-B4996E26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Titan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67C1B-42BF-4F43-B73D-0F830302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</a:defRPr>
            </a:pPr>
            <a:r>
              <a:rPr sz="1800" b="1">
                <a:solidFill>
                  <a:srgbClr val="C62828"/>
                </a:solidFill>
              </a:rPr>
              <a:t>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3E207-2A5E-47E2-A693-E4A4BC4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The project summary risk level is High. 19 open task(s) are past their planned end date.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FD57C-CD8A-4AC3-9FAC-0A3ED9AB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Run an executive recovery review focused on overdue critical work, owners, and revised milestone dates.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A0B40-1D82-4BC1-82E3-D6A40A1A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F9325-8179-47C2-9A2F-99C07EB3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UniSan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5A245-847C-4EE3-A098-833007DE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57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</a:defRPr>
            </a:pPr>
            <a:r>
              <a:rPr sz="1800" b="1">
                <a:solidFill>
                  <a:srgbClr val="C62828"/>
                </a:solidFill>
              </a:rPr>
              <a:t>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3712F-421B-49C3-8F1F-72DEAA4A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The workbook summary marks overall schedule health as Red. The project summary risk level is High.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E7817-1198-4ADD-8CF6-29B5A9E4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57625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Run an executive recovery review focused on overdue critical work, owners, and revised milestone dates.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449D3-C231-4321-B96A-E37E2F9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625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9540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2006E-6B7E-4736-A503-587BF0EE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Recommended action is a two-week recovery cadence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4D7DD-46E8-42FB-81AA-280D935E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next cycle should turn risk evidence into owned actions, updated dates, and cleaner executive reporting.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429A7-D92F-4973-B57A-B82BF884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4A27E-4259-437E-B4AE-90A65C99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BEB68-EF46-416E-9225-6A94EAC0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84ADC-0839-4C9D-BD37-C05D59F8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0B513-4F89-4F9D-B263-B271652A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Hold a recovery review for Red items with PMs, delivery leads, and client owners.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B9223-B326-426D-B757-F3280122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1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FAB3B-4145-4C6B-9BC8-50AD0189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Create a 14-day action plan for overdue and near-term risky tasks.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B6C56-2078-4292-8EF7-F0CAACA6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95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07F1D-F82B-4ACB-ABAA-3EEA0C18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Convert blocker comments into named actions with owner, due date, and escalation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13401-9F8F-4D6A-8C77-43CA896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81CAF-00EC-4EC7-B1C6-232FB25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Add budget and burn-rate fields so commercial health can be scored in the next monthly report.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3B343-8C37-4D3F-AE00-B64543BA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B627A-B4B0-468F-8C73-205E92EB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Executive 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ECFF7-0F38-4545-87F7-2B956646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190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Approve a weekly recovery cadence until both projects return to Amber with dated mitigation plans.</a:t>
            </a:r>
          </a:p>
        </p:txBody>
      </p:sp>
    </p:spTree>
    <p:extLst>
      <p:ext uri="{BB962C8B-B14F-4D97-AF65-F5344CB8AC3E}">
        <p14:creationId xmlns:p14="http://schemas.microsoft.com/office/powerpoint/2010/main" val="1486396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2026-07-09T16:31:08.6510000Z</dcterms:created>
  <dcterms:modified xsi:type="dcterms:W3CDTF">2026-07-09T16:31:08.6520000Z</dcterms:modified>
</coreProperties>
</file>